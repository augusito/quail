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6" r:id="rId6"/>
    <p:sldId id="262" r:id="rId7"/>
    <p:sldId id="259" r:id="rId8"/>
    <p:sldId id="268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9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this deck walks Pear through the She Delivers LMS build plan: what it does, who uses it, the tools involved, and the step-by-step order to build it, starting from Cohort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role quickly — admin has the master key, trainers and supervisors have focused tools, interns manage their own profile, and the public only ever sees the talent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 of day-to-day operations: cohorts open and close cleanly, trainers self-schedule, contracts are signed digitally, and curriculum delivery is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privacy-sensitive half: scores are locked to the relevant trainer plus admin, logbooks differ by category, and statutory documents are securely vaulted.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062E2-D9C6-814E-D5C4-0B402BF5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68449-E4F3-B3CF-CB34-AE87037B8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3FEEE-E879-9904-3882-C74588DC6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Documentaries and photos stay internal; the talent board is the one public-facing piece; and closed cohorts graduate as a group into the Alumni Hub.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133CD-69CD-3CE2-DB16-5CC28530E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97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Documentaries and photos stay internal; the talent board is the one public-facing piece; and closed cohorts graduate as a group into the Alumni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categories drive the logbook type, the workplans supervisors create, and the public talent board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assigns ownership for each workstream and reassures stakeholders that the proposed tools won't add to running costs — every tool here has a free tier sufficient for this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</a:t>
            </a:r>
          </a:p>
          <a:p>
            <a:pPr marL="0" indent="0" algn="ctr">
              <a:buNone/>
            </a:pPr>
            <a:endParaRPr lang="en-US" sz="20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Delivers Management System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354580"/>
            <a:ext cx="82296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Integration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57200" y="4087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logs in to the same system but sees only what they need 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517904" cy="2926080"/>
          </a:xfrm>
          <a:prstGeom prst="roundRect">
            <a:avLst>
              <a:gd name="adj" fmla="val 4819"/>
            </a:avLst>
          </a:prstGeom>
          <a:solidFill>
            <a:srgbClr val="EEEDFE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oversight: cohorts' creation, contracts, exports &amp; media library, Access to module notes and scores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57984" y="1371600"/>
            <a:ext cx="1517904" cy="2926080"/>
          </a:xfrm>
          <a:prstGeom prst="roundRect">
            <a:avLst>
              <a:gd name="adj" fmla="val 4819"/>
            </a:avLst>
          </a:prstGeom>
          <a:solidFill>
            <a:srgbClr val="EEEDFE"/>
          </a:solidFill>
          <a:ln/>
        </p:spPr>
      </p:sp>
      <p:sp>
        <p:nvSpPr>
          <p:cNvPr id="10" name="Shape 7"/>
          <p:cNvSpPr/>
          <p:nvPr/>
        </p:nvSpPr>
        <p:spPr>
          <a:xfrm>
            <a:off x="2596896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1737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57984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231136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training dates, posts module notes &amp; scores, Upload signed contract and Trainers release and discharge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13048" y="1371600"/>
            <a:ext cx="1517904" cy="2926080"/>
          </a:xfrm>
          <a:prstGeom prst="roundRect">
            <a:avLst>
              <a:gd name="adj" fmla="val 4819"/>
            </a:avLst>
          </a:prstGeom>
          <a:solidFill>
            <a:srgbClr val="EEEDFE"/>
          </a:solidFill>
          <a:ln/>
        </p:spPr>
      </p:sp>
      <p:sp>
        <p:nvSpPr>
          <p:cNvPr id="15" name="Shape 11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737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13048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88620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upload documents, Updates their logbooks weekly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68112" y="1371600"/>
            <a:ext cx="1517904" cy="2926080"/>
          </a:xfrm>
          <a:prstGeom prst="roundRect">
            <a:avLst>
              <a:gd name="adj" fmla="val 4819"/>
            </a:avLst>
          </a:prstGeom>
          <a:solidFill>
            <a:srgbClr val="EEEDFE"/>
          </a:solidFill>
          <a:ln/>
        </p:spPr>
      </p:sp>
      <p:sp>
        <p:nvSpPr>
          <p:cNvPr id="20" name="Shape 15"/>
          <p:cNvSpPr/>
          <p:nvPr/>
        </p:nvSpPr>
        <p:spPr>
          <a:xfrm>
            <a:off x="5907024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7373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41264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interns evaluation, workplans &amp; logbook reviews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123176" y="1371600"/>
            <a:ext cx="1517904" cy="2926080"/>
          </a:xfrm>
          <a:prstGeom prst="roundRect">
            <a:avLst>
              <a:gd name="adj" fmla="val 4819"/>
            </a:avLst>
          </a:prstGeom>
          <a:solidFill>
            <a:srgbClr val="EEEDFE"/>
          </a:solidFill>
          <a:ln/>
        </p:spPr>
      </p:sp>
      <p:sp>
        <p:nvSpPr>
          <p:cNvPr id="25" name="Shape 19"/>
          <p:cNvSpPr/>
          <p:nvPr/>
        </p:nvSpPr>
        <p:spPr>
          <a:xfrm>
            <a:off x="7562088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17373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23176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96328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the talent board of job-ready graduates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part I</a:t>
            </a:r>
          </a:p>
        </p:txBody>
      </p:sp>
      <p:sp>
        <p:nvSpPr>
          <p:cNvPr id="3" name="Shape 1"/>
          <p:cNvSpPr/>
          <p:nvPr/>
        </p:nvSpPr>
        <p:spPr>
          <a:xfrm>
            <a:off x="357188" y="1092708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34416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356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30759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management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198424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Open/create a new Cohort; close it when complete and move every participant straight into the Alumni Hub. Add alumni of previous cohorts to the Alumni Hub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0288" y="134416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356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30759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and Automatic reminders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90288" y="198424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trainer picks their preferred dates per module. Automatic reminders go to the trainer and every registered intern before training date. 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26440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35584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32278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management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8368" y="390448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trainer signs a digital contract at the start of each cohort — stored and tracked inside the platform, Picks dates of training as per modules provided, release and discharge after training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89120" y="30632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90288" y="326440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35584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85232" y="32278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notes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590288" y="390448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deliver the existing curriculum and post session notes for every module they cover.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</a:rPr>
              <a:t>Features Part II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34416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356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30759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&amp; assessments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198424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post results and notes per module - visible only to admin and that module's trainer. 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0288" y="134416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356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30759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Logbooks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90288" y="198424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logbook formats for drivers and non-drivers. Supervisors monitor entries and add comments where needed.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26440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35584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32278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vault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8368" y="390448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upload Kenyan statutory documents - ID, driving licence, certificate of good conduct, SHA, KRA PIN and NSSF - as PDF, JPEG and any other allowable format.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89120" y="30632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90288" y="3264408"/>
            <a:ext cx="548640" cy="54864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35584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85232" y="32278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exports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590288" y="390448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downloads all scores and documents in one go, exported directly to Google Drive or downloaded as Excel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D68B9-A7E3-BE6E-73BB-A70F185D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51F6AA-85E7-EECB-938E-D63866C10529}"/>
              </a:ext>
            </a:extLst>
          </p:cNvPr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part III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C45F78-B3B4-D394-F6E7-4C4FC9743B45}"/>
              </a:ext>
            </a:extLst>
          </p:cNvPr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cohort's story and its graduates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CA11C6-1760-9471-4CA8-F20BFCDBC3EB}"/>
              </a:ext>
            </a:extLst>
          </p:cNvPr>
          <p:cNvSpPr/>
          <p:nvPr/>
        </p:nvSpPr>
        <p:spPr>
          <a:xfrm>
            <a:off x="457199" y="1341119"/>
            <a:ext cx="4205591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DDDE94D-AA67-1AFD-D6C2-205A21DF3F59}"/>
              </a:ext>
            </a:extLst>
          </p:cNvPr>
          <p:cNvSpPr/>
          <p:nvPr/>
        </p:nvSpPr>
        <p:spPr>
          <a:xfrm>
            <a:off x="2023352" y="1554480"/>
            <a:ext cx="706877" cy="64008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02BA79-F3C3-9F54-342B-8B82332DD15C}"/>
              </a:ext>
            </a:extLst>
          </p:cNvPr>
          <p:cNvSpPr/>
          <p:nvPr/>
        </p:nvSpPr>
        <p:spPr>
          <a:xfrm>
            <a:off x="1057072" y="2331720"/>
            <a:ext cx="2808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Supervisors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0776371-A9F1-F80A-97A8-21EE171BEE4F}"/>
              </a:ext>
            </a:extLst>
          </p:cNvPr>
          <p:cNvSpPr/>
          <p:nvPr/>
        </p:nvSpPr>
        <p:spPr>
          <a:xfrm>
            <a:off x="1316476" y="2743200"/>
            <a:ext cx="242542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upload their workplans, can check and comment on intern's log books, can evaluate the intern at the end of the cohort.</a:t>
            </a:r>
            <a:endParaRPr lang="en-US" sz="11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2ADB534-59A7-B54C-F8E0-EB02B76C2604}"/>
              </a:ext>
            </a:extLst>
          </p:cNvPr>
          <p:cNvSpPr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4976E8A-4CD4-B3A9-C9D3-F4A02F508DD2}"/>
              </a:ext>
            </a:extLst>
          </p:cNvPr>
          <p:cNvSpPr/>
          <p:nvPr/>
        </p:nvSpPr>
        <p:spPr>
          <a:xfrm>
            <a:off x="3456432" y="2743200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DE58DE2-1379-468C-4393-CCCCBC2BB559}"/>
              </a:ext>
            </a:extLst>
          </p:cNvPr>
          <p:cNvSpPr/>
          <p:nvPr/>
        </p:nvSpPr>
        <p:spPr>
          <a:xfrm>
            <a:off x="61264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D9352AA1-BFCA-34C5-4A0A-89A49FABD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590" y="1630681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79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part IV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cohort's story and its graduates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006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library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" y="2743200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photos and documentaries are stored securely -visible to admin only can be extended to the specific cohort.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8989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FAECE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board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56432" y="2743200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page shows who's employed and who's open to opportunities. Admin or the account owner can update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1554480"/>
            <a:ext cx="640080" cy="640080"/>
          </a:xfrm>
          <a:prstGeom prst="ellipse">
            <a:avLst/>
          </a:prstGeom>
          <a:solidFill>
            <a:srgbClr val="EEEDF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916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Alumni hub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91072" y="2743200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cohort closes, everyone moves into a shared Alumni Hub with limited access- no re-registering as a new intern, Admin has access to Communicate/announce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 Roles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110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the system. Each intern should be able to create an account, update their logbooks and upload their documents, update alumni profiles upon graduation, receive notification on training reminders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6072" y="1572768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AECE7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 Driver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08860" y="1558052"/>
            <a:ext cx="1517904" cy="1956673"/>
          </a:xfrm>
          <a:prstGeom prst="roundRect">
            <a:avLst>
              <a:gd name="adj" fmla="val 4819"/>
            </a:avLst>
          </a:prstGeom>
          <a:solidFill>
            <a:srgbClr val="FAECE7"/>
          </a:solidFill>
          <a:ln/>
        </p:spPr>
      </p:sp>
      <p:sp>
        <p:nvSpPr>
          <p:cNvPr id="10" name="Shape 7"/>
          <p:cNvSpPr/>
          <p:nvPr/>
        </p:nvSpPr>
        <p:spPr>
          <a:xfrm>
            <a:off x="2596896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1737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57984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2C2C2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</a:t>
            </a:r>
            <a:endParaRPr lang="en-US" sz="1000" b="1" dirty="0">
              <a:solidFill>
                <a:srgbClr val="2C2C2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231136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45052" y="1558052"/>
            <a:ext cx="1517904" cy="1956673"/>
          </a:xfrm>
          <a:prstGeom prst="roundRect">
            <a:avLst>
              <a:gd name="adj" fmla="val 4819"/>
            </a:avLst>
          </a:prstGeom>
          <a:solidFill>
            <a:srgbClr val="FAECE7"/>
          </a:solidFill>
          <a:ln/>
        </p:spPr>
      </p:sp>
      <p:sp>
        <p:nvSpPr>
          <p:cNvPr id="15" name="Shape 11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860089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13048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Mgmt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88620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22392" y="1554480"/>
            <a:ext cx="1517904" cy="1956673"/>
          </a:xfrm>
          <a:prstGeom prst="roundRect">
            <a:avLst>
              <a:gd name="adj" fmla="val 4819"/>
            </a:avLst>
          </a:prstGeom>
          <a:solidFill>
            <a:srgbClr val="FAECE7"/>
          </a:solidFill>
          <a:ln/>
        </p:spPr>
      </p:sp>
      <p:sp>
        <p:nvSpPr>
          <p:cNvPr id="20" name="Shape 15"/>
          <p:cNvSpPr/>
          <p:nvPr/>
        </p:nvSpPr>
        <p:spPr>
          <a:xfrm>
            <a:off x="5907024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742931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0405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034022" y="1558052"/>
            <a:ext cx="1517904" cy="1953101"/>
          </a:xfrm>
          <a:prstGeom prst="roundRect">
            <a:avLst>
              <a:gd name="adj" fmla="val 4819"/>
            </a:avLst>
          </a:prstGeom>
          <a:solidFill>
            <a:srgbClr val="FAECE7"/>
          </a:solidFill>
          <a:ln/>
        </p:spPr>
      </p:sp>
      <p:sp>
        <p:nvSpPr>
          <p:cNvPr id="25" name="Shape 19"/>
          <p:cNvSpPr/>
          <p:nvPr/>
        </p:nvSpPr>
        <p:spPr>
          <a:xfrm>
            <a:off x="7562088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1759506"/>
            <a:ext cx="365760" cy="4271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23176" y="24231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96328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responsibilities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193403"/>
              </p:ext>
            </p:extLst>
          </p:nvPr>
        </p:nvGraphicFramePr>
        <p:xfrm>
          <a:off x="457200" y="1097280"/>
          <a:ext cx="7908587" cy="2641988"/>
        </p:xfrm>
        <a:graphic>
          <a:graphicData uri="http://schemas.openxmlformats.org/drawingml/2006/table">
            <a:tbl>
              <a:tblPr/>
              <a:tblGrid>
                <a:gridCol w="1604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5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leadership </a:t>
                      </a: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 </a:t>
                      </a:r>
                      <a:r>
                        <a:rPr lang="en-US" sz="1050" dirty="0" err="1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Mputhia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050" dirty="0"/>
                        <a:t>To provides strategic direction and approves key decisions.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build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050" dirty="0"/>
                        <a:t>Design, build, configure, test, deploy, and maintain the Management System platform based on the approved requirements, including integrations, security, functionality, and technical improvements.</a:t>
                      </a:r>
                      <a:endParaRPr lang="en-US" sz="1050" dirty="0">
                        <a:solidFill>
                          <a:srgbClr val="5F5E5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solidFill>
                          <a:srgbClr val="5F5E5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weekly progress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2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Winnie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Provide content and workflows as and when required, manage adoption and continuous improvement, </a:t>
                      </a:r>
                      <a:r>
                        <a:rPr lang="en-GB" sz="1050" dirty="0"/>
                        <a:t>test the system from a user perspective, and ensure the Management System.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2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810</Words>
  <Application>Microsoft Office PowerPoint</Application>
  <PresentationFormat>On-screen Show (16:9)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 Delivers LMS — Build &amp; Integration Roadmap</dc:title>
  <dc:subject>PptxGenJS Presentation</dc:subject>
  <dc:creator>Wmakena</dc:creator>
  <cp:lastModifiedBy>winnie makena</cp:lastModifiedBy>
  <cp:revision>4</cp:revision>
  <dcterms:created xsi:type="dcterms:W3CDTF">2026-06-15T06:38:56Z</dcterms:created>
  <dcterms:modified xsi:type="dcterms:W3CDTF">2026-07-06T07:55:24Z</dcterms:modified>
</cp:coreProperties>
</file>